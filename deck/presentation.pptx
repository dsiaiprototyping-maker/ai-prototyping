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A88"/>
                </a:solidFill>
              </a:rPr>
              <a:t>DSI · AWAY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463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A88"/>
                </a:solidFill>
              </a:rPr>
              <a:t>SLIDE 01 ·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46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6A88"/>
                </a:solidFill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2D8B"/>
                </a:solidFill>
              </a:rPr>
              <a:t>DSI · MAY AWAY DAY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1155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DCDCE8"/>
                </a:solidFill>
              </a:rPr>
              <a:t>AI Prototyping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1">
                <a:solidFill>
                  <a:srgbClr val="8888A0"/>
                </a:solidFill>
              </a:rPr>
              <a:t>From prompt to shipped — live.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07408"/>
            <a:ext cx="594360" cy="2743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26864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B2D8B"/>
                </a:solidFill>
              </a:rPr>
              <a:t>NatWest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30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88"/>
                </a:solidFill>
              </a:rPr>
              <a:t>DATA SCIENCE &amp;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73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2D8B"/>
                </a:solidFill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A88"/>
                </a:solidFill>
              </a:rPr>
              <a:t>DSI · AWAY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463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A88"/>
                </a:solidFill>
              </a:rPr>
              <a:t>SLIDE 02 · LLM CHAT VS AI AGENT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46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6A88"/>
                </a:solidFill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687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CDCE8"/>
                </a:solidFill>
              </a:rPr>
              <a:t>LLM Chat vs AI Agent Harness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54557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6A88"/>
                </a:solidFill>
              </a:rPr>
              <a:t>LLM / CHAT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64208"/>
            <a:ext cx="54557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AI AGENT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12848"/>
            <a:ext cx="5455767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b="0" i="0">
                <a:solidFill>
                  <a:srgbClr val="8888A0"/>
                </a:solidFill>
              </a:rPr>
              <a:t>·  You ask a question, it gives an answer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8888A0"/>
                </a:solidFill>
              </a:rPr>
              <a:t>·  Mostly conversation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8888A0"/>
                </a:solidFill>
              </a:rPr>
              <a:t>·  Best for brainstorming, writing, summarising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8888A0"/>
                </a:solidFill>
              </a:rPr>
              <a:t>·  Human does most of the execution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8888A0"/>
                </a:solidFill>
              </a:rPr>
              <a:t>·  Output is usually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12848"/>
            <a:ext cx="5455767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 b="0" i="0">
                <a:solidFill>
                  <a:srgbClr val="DCDCE8"/>
                </a:solidFill>
              </a:rPr>
              <a:t>·  You give a goal, it can take actions to achieve it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DCDCE8"/>
                </a:solidFill>
              </a:rPr>
              <a:t>·  Conversation plus tools, memory, permissions, and workflows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DCDCE8"/>
                </a:solidFill>
              </a:rPr>
              <a:t>·  Best for building, checking, testing, fixing, and iterating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DCDCE8"/>
                </a:solidFill>
              </a:rPr>
              <a:t>·  Agent can do parts of the execution under supervision</a:t>
            </a:r>
          </a:p>
          <a:p>
            <a:pPr>
              <a:spcBef>
                <a:spcPts val="600"/>
              </a:spcBef>
            </a:pPr>
            <a:r>
              <a:rPr sz="1700" b="0" i="0">
                <a:solidFill>
                  <a:srgbClr val="DCDCE8"/>
                </a:solidFill>
              </a:rPr>
              <a:t>·  Output can be code, edits, screenshots, test results, PRs, browser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0361" y="1600200"/>
            <a:ext cx="10972" cy="4114800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660136"/>
            <a:ext cx="12191695" cy="749808"/>
          </a:xfrm>
          <a:prstGeom prst="rect">
            <a:avLst/>
          </a:prstGeom>
          <a:solidFill>
            <a:srgbClr val="100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71500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88A0"/>
                </a:solidFill>
              </a:rPr>
              <a:t>A chat interface gives you answers. An agent harness helps turn answers into completed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73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2D8B"/>
                </a:solidFill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A88"/>
                </a:solidFill>
              </a:rPr>
              <a:t>DSI · AWAY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463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A88"/>
                </a:solidFill>
              </a:rPr>
              <a:t>SLIDE 03 · CLAUDE DESKTOP APP — THREE WAYS TO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46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6A88"/>
                </a:solidFill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687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CDCE8"/>
                </a:solidFill>
              </a:rPr>
              <a:t>Claude Desktop App — Three Ways to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36798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367985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DCE8"/>
                </a:solidFill>
              </a:rPr>
              <a:t>Stateless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42032"/>
            <a:ext cx="3679850" cy="7315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367985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One-off conversation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No memory between sessions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Best for questions and drafts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Output is text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You drive everything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Great for quick thinking, summarising, explaining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3626" y="1600200"/>
            <a:ext cx="10972" cy="4114800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5922" y="1664208"/>
            <a:ext cx="36798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PROJECTS (COWORK)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922" y="2029968"/>
            <a:ext cx="367985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DCE8"/>
                </a:solidFill>
              </a:rPr>
              <a:t>Stateful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5922" y="2542032"/>
            <a:ext cx="3679850" cy="7315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5922" y="2560320"/>
            <a:ext cx="367985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Persistent workspace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Shared context across sessions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Best for ongoing team work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Output is text plus files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Claude remembers your project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Great for collaborations spanning days or weeks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8068" y="1600200"/>
            <a:ext cx="10972" cy="4114800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0364" y="1664208"/>
            <a:ext cx="36798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0364" y="2029968"/>
            <a:ext cx="367985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DCE8"/>
                </a:solidFill>
              </a:rPr>
              <a:t>Agentic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0364" y="2542032"/>
            <a:ext cx="3679850" cy="7315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0364" y="2560320"/>
            <a:ext cx="367985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Agent inside your codebase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Reads, edits, and runs files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Best for building and iterating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Output is code, tests, PRs, terminal actions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Claude acts with your supervision</a:t>
            </a:r>
          </a:p>
          <a:p>
            <a:pPr>
              <a:spcBef>
                <a:spcPts val="500"/>
              </a:spcBef>
            </a:pPr>
            <a:r>
              <a:rPr sz="1600" b="0" i="0">
                <a:solidFill>
                  <a:srgbClr val="8888A0"/>
                </a:solidFill>
              </a:rPr>
              <a:t>·  Great for software tasks where Claude sees and changes artefacts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660136"/>
            <a:ext cx="12191695" cy="749808"/>
          </a:xfrm>
          <a:prstGeom prst="rect">
            <a:avLst/>
          </a:prstGeom>
          <a:solidFill>
            <a:srgbClr val="100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71500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88A0"/>
                </a:solidFill>
              </a:rPr>
              <a:t>Chat answers your question. Projects remembers your work. Claude Code does the work with you.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2D8B"/>
                </a:solidFill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A88"/>
                </a:solidFill>
              </a:rPr>
              <a:t>DSI · AWAY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463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A88"/>
                </a:solidFill>
              </a:rPr>
              <a:t>SLIDE 04 · SETTING CLAUDE UP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46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6A88"/>
                </a:solidFill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687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CDCE8"/>
                </a:solidFill>
              </a:rPr>
              <a:t>Setting Claude Up for Success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73352"/>
            <a:ext cx="3704234" cy="2029968"/>
          </a:xfrm>
          <a:prstGeom prst="rect">
            <a:avLst/>
          </a:prstGeom>
          <a:solidFill>
            <a:srgbClr val="12081A"/>
          </a:solidFill>
          <a:ln w="7620">
            <a:solidFill>
              <a:srgbClr val="4A1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801368"/>
            <a:ext cx="341162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2D8B"/>
                </a:solidFill>
              </a:rPr>
              <a:t>01 ·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093976"/>
            <a:ext cx="341162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CDCE8"/>
                </a:solidFill>
              </a:rPr>
              <a:t>Version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551176"/>
            <a:ext cx="341162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0"/>
                </a:solidFill>
              </a:rPr>
              <a:t>Gives Claude a safety net — diff, revert, and branch. Commit history is context Claude can read and reason about. Branches let Claude work in isolation before you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3730" y="1673352"/>
            <a:ext cx="3704234" cy="2029968"/>
          </a:xfrm>
          <a:prstGeom prst="rect">
            <a:avLst/>
          </a:prstGeom>
          <a:solidFill>
            <a:srgbClr val="12081A"/>
          </a:solidFill>
          <a:ln w="7620">
            <a:solidFill>
              <a:srgbClr val="4A1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0034" y="1801368"/>
            <a:ext cx="341162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2D8B"/>
                </a:solidFill>
              </a:rPr>
              <a:t>02 ·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034" y="2093976"/>
            <a:ext cx="341162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CDCE8"/>
                </a:solidFill>
              </a:rPr>
              <a:t>Persistent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0034" y="2551176"/>
            <a:ext cx="341162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0"/>
                </a:solidFill>
              </a:rPr>
              <a:t>Persistent facts across sessions. Stored as markdown files Claude reads at start of conversation. Types: user profile, project state, feedback corrections, external references.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5980" y="1673352"/>
            <a:ext cx="3704234" cy="2029968"/>
          </a:xfrm>
          <a:prstGeom prst="rect">
            <a:avLst/>
          </a:prstGeom>
          <a:solidFill>
            <a:srgbClr val="12081A"/>
          </a:solidFill>
          <a:ln w="7620">
            <a:solidFill>
              <a:srgbClr val="4A1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2284" y="1801368"/>
            <a:ext cx="341162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2D8B"/>
                </a:solidFill>
              </a:rPr>
              <a:t>03 · CLAUDE.MD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2284" y="2093976"/>
            <a:ext cx="341162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CDCE8"/>
                </a:solidFill>
              </a:rPr>
              <a:t>Rules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2284" y="2551176"/>
            <a:ext cx="341162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0"/>
                </a:solidFill>
              </a:rPr>
              <a:t>Project-level instructions checked into the repo. Define stack constraints, naming conventions, scope limits. Claude treats this as the source of truth for how to work in the project.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49624"/>
            <a:ext cx="5602071" cy="1755647"/>
          </a:xfrm>
          <a:prstGeom prst="rect">
            <a:avLst/>
          </a:prstGeom>
          <a:solidFill>
            <a:srgbClr val="12081A"/>
          </a:solidFill>
          <a:ln w="7620">
            <a:solidFill>
              <a:srgbClr val="4A1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77640"/>
            <a:ext cx="52728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2D8B"/>
                </a:solidFill>
              </a:rPr>
              <a:t>04 · 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270248"/>
            <a:ext cx="52728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CDCE8"/>
                </a:solidFill>
              </a:rPr>
              <a:t>Slash Commands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4727448"/>
            <a:ext cx="5272887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0"/>
                </a:solidFill>
              </a:rPr>
              <a:t>Reusable capabilities invoked with a slash command. Examples: /review, /plan, /security-review, /init, /graphify. Custom skills can encode team-specific workflows.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8143" y="3849624"/>
            <a:ext cx="5602071" cy="1755647"/>
          </a:xfrm>
          <a:prstGeom prst="rect">
            <a:avLst/>
          </a:prstGeom>
          <a:solidFill>
            <a:srgbClr val="12081A"/>
          </a:solidFill>
          <a:ln w="7620">
            <a:solidFill>
              <a:srgbClr val="4A1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2735" y="3977640"/>
            <a:ext cx="527288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2D8B"/>
                </a:solidFill>
              </a:rPr>
              <a:t>05 · PERMISSIONS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2735" y="4270248"/>
            <a:ext cx="52728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CDCE8"/>
                </a:solidFill>
              </a:rPr>
              <a:t>Allowlist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4727448"/>
            <a:ext cx="5272887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0"/>
                </a:solidFill>
              </a:rPr>
              <a:t>Explicit allowlist of what Claude can run automatically. Reduces friction for low-risk commands (read, test, lint). High-risk actions (push, deploy, delete) still prompt for approval.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660136"/>
            <a:ext cx="12191695" cy="749808"/>
          </a:xfrm>
          <a:prstGeom prst="rect">
            <a:avLst/>
          </a:prstGeom>
          <a:solidFill>
            <a:srgbClr val="100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71500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88A0"/>
                </a:solidFill>
              </a:rPr>
              <a:t>The more context and guardrails you give Claude upfront, the less supervision it needs mid-task.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73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2D8B"/>
                </a:solidFill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A88"/>
                </a:solidFill>
              </a:rPr>
              <a:t>DSI · AWAY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463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A88"/>
                </a:solidFill>
              </a:rPr>
              <a:t>SLIDE 05 · BUILDING WITH CLAUDE — FROM PROMPT TO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46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6A88"/>
                </a:solidFill>
              </a:rPr>
              <a:t>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687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B2D8B"/>
                </a:solidFill>
              </a:rPr>
              <a:t>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77824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DCDCE8"/>
                </a:solidFill>
              </a:rPr>
              <a:t>Building with Claude — From Prompt to Shipped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2593" y="1755648"/>
            <a:ext cx="731520" cy="731520"/>
          </a:xfrm>
          <a:prstGeom prst="ellipse">
            <a:avLst/>
          </a:prstGeom>
          <a:solidFill>
            <a:srgbClr val="14061C"/>
          </a:solidFill>
          <a:ln w="1524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2593" y="1916582"/>
            <a:ext cx="7315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B2D8B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24327"/>
            <a:ext cx="20908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CDCE8"/>
                </a:solidFill>
              </a:rPr>
              <a:t>Good Prompting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2090867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Point at what you see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Name the constraint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One visible goal per prompt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14113" y="2029967"/>
            <a:ext cx="1542227" cy="182880"/>
          </a:xfrm>
          <a:prstGeom prst="rightArrow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56340" y="1755648"/>
            <a:ext cx="731520" cy="731520"/>
          </a:xfrm>
          <a:prstGeom prst="ellipse">
            <a:avLst/>
          </a:prstGeom>
          <a:solidFill>
            <a:srgbClr val="14061C"/>
          </a:solidFill>
          <a:ln w="1524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340" y="1916582"/>
            <a:ext cx="7315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B2D8B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6667" y="2624327"/>
            <a:ext cx="20908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CDCE8"/>
                </a:solidFill>
              </a:rPr>
              <a:t>Plan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6667" y="3191256"/>
            <a:ext cx="2090867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Ask Claude to plan first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Read and reject wrong assumptions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Opus for complex decisions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87860" y="2029967"/>
            <a:ext cx="1542227" cy="182880"/>
          </a:xfrm>
          <a:prstGeom prst="rightArrow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30087" y="1755648"/>
            <a:ext cx="731520" cy="731520"/>
          </a:xfrm>
          <a:prstGeom prst="ellipse">
            <a:avLst/>
          </a:prstGeom>
          <a:solidFill>
            <a:srgbClr val="14061C"/>
          </a:solidFill>
          <a:ln w="1524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0087" y="1916582"/>
            <a:ext cx="7315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B2D8B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0414" y="2624327"/>
            <a:ext cx="20908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CDCE8"/>
                </a:solidFill>
              </a:rPr>
              <a:t>Interview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0414" y="3191256"/>
            <a:ext cx="2090867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Claude asks — answer them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Hidden conflicts surface here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Shared understanding saves rework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61607" y="2029967"/>
            <a:ext cx="1542227" cy="182880"/>
          </a:xfrm>
          <a:prstGeom prst="rightArrow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3834" y="1755648"/>
            <a:ext cx="731520" cy="731520"/>
          </a:xfrm>
          <a:prstGeom prst="ellipse">
            <a:avLst/>
          </a:prstGeom>
          <a:solidFill>
            <a:srgbClr val="14061C"/>
          </a:solidFill>
          <a:ln w="1524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3834" y="1916582"/>
            <a:ext cx="7315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B2D8B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161" y="2624327"/>
            <a:ext cx="20908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CDCE8"/>
                </a:solidFill>
              </a:rPr>
              <a:t>Screenshot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161" y="3191256"/>
            <a:ext cx="2090867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Capture what you see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Paste and describe the issue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Claude reads and corrects visually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35354" y="2029967"/>
            <a:ext cx="1542227" cy="182880"/>
          </a:xfrm>
          <a:prstGeom prst="rightArrow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77581" y="1755648"/>
            <a:ext cx="731520" cy="731520"/>
          </a:xfrm>
          <a:prstGeom prst="ellipse">
            <a:avLst/>
          </a:prstGeom>
          <a:solidFill>
            <a:srgbClr val="2A0A38"/>
          </a:solidFill>
          <a:ln w="25400"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77581" y="1916582"/>
            <a:ext cx="731520" cy="409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B2D8B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7908" y="2624327"/>
            <a:ext cx="209086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CDCE8"/>
                </a:solidFill>
              </a:rPr>
              <a:t>Iteration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7908" y="3191256"/>
            <a:ext cx="2090867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prompt → edit → refresh → check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Small prompts = short diffs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8888A0"/>
                </a:solidFill>
              </a:rPr>
              <a:t>· Commit after each working step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074920"/>
            <a:ext cx="11368735" cy="10972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093207"/>
            <a:ext cx="11368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A6A88"/>
                </a:solidFill>
              </a:rPr>
              <a:t>↺   LOOP  ·  ITERATE  ·  SHIP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367528"/>
            <a:ext cx="11368735" cy="10972"/>
          </a:xfrm>
          <a:prstGeom prst="rect">
            <a:avLst/>
          </a:prstGeom>
          <a:solidFill>
            <a:srgbClr val="2A1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660136"/>
            <a:ext cx="12191695" cy="749808"/>
          </a:xfrm>
          <a:prstGeom prst="rect">
            <a:avLst/>
          </a:prstGeom>
          <a:solidFill>
            <a:srgbClr val="100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71500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8888A0"/>
                </a:solidFill>
              </a:rPr>
              <a:t>Build in short loops: prompt, look, screenshot, correct — the browser is your shared source of truth.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473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2D8B"/>
                </a:solidFill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